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5c4504ebfc4071" /><Relationship Type="http://schemas.openxmlformats.org/officeDocument/2006/relationships/extended-properties" Target="/docProps/app.xml" Id="Rf5eb4b41ad234f03" /><Relationship Type="http://schemas.openxmlformats.org/officeDocument/2006/relationships/officeDocument" Target="/ppt/presentation.xml" Id="R3b2750a6b5f647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4b43b7413d434c"/>
  </p:sldMasterIdLst>
  <p:notesMasterIdLst>
    <p:notesMasterId xmlns:r="http://schemas.openxmlformats.org/officeDocument/2006/relationships" r:id="R2358452421284f25"/>
  </p:notesMasterIdLst>
  <p:sldIdLst>
    <p:sldId xmlns:r="http://schemas.openxmlformats.org/officeDocument/2006/relationships" id="256" r:id="R2eaf285712104d68"/>
    <p:sldId xmlns:r="http://schemas.openxmlformats.org/officeDocument/2006/relationships" id="257" r:id="Rc2188ff8426146d8"/>
    <p:sldId xmlns:r="http://schemas.openxmlformats.org/officeDocument/2006/relationships" id="258" r:id="R3408b36446bc4dc8"/>
    <p:sldId xmlns:r="http://schemas.openxmlformats.org/officeDocument/2006/relationships" id="259" r:id="Rc80654a6eee44586"/>
    <p:sldId xmlns:r="http://schemas.openxmlformats.org/officeDocument/2006/relationships" id="260" r:id="Rda68909a7e1f4828"/>
    <p:sldId xmlns:r="http://schemas.openxmlformats.org/officeDocument/2006/relationships" id="261" r:id="R397b6e42a09e4e9c"/>
    <p:sldId xmlns:r="http://schemas.openxmlformats.org/officeDocument/2006/relationships" id="262" r:id="R5847a7005c174102"/>
    <p:sldId xmlns:r="http://schemas.openxmlformats.org/officeDocument/2006/relationships" id="263" r:id="R9e4bf6dd9aed462a"/>
    <p:sldId xmlns:r="http://schemas.openxmlformats.org/officeDocument/2006/relationships" id="264" r:id="R7922ffe1f09d4219"/>
    <p:sldId xmlns:r="http://schemas.openxmlformats.org/officeDocument/2006/relationships" id="265" r:id="R746adfaf0a7e4829"/>
    <p:sldId xmlns:r="http://schemas.openxmlformats.org/officeDocument/2006/relationships" id="266" r:id="Rc7a08fd07b2641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9972a6b1e74f4d" /><Relationship Type="http://schemas.openxmlformats.org/officeDocument/2006/relationships/slideMaster" Target="/ppt/slideMasters/slideMaster1.xml" Id="R824b43b7413d434c" /><Relationship Type="http://schemas.openxmlformats.org/officeDocument/2006/relationships/notesMaster" Target="/ppt/notesMasters/notesMaster1.xml" Id="R2358452421284f25" /><Relationship Type="http://schemas.openxmlformats.org/officeDocument/2006/relationships/presProps" Target="/ppt/presProps.xml" Id="Rb4aaafff9f5743ee" /><Relationship Type="http://schemas.openxmlformats.org/officeDocument/2006/relationships/tableStyles" Target="/ppt/tableStyles.xml" Id="Re5014848f5eb49e9" /><Relationship Type="http://schemas.openxmlformats.org/officeDocument/2006/relationships/slide" Target="/ppt/slides/slide1.xml" Id="R2eaf285712104d68" /><Relationship Type="http://schemas.openxmlformats.org/officeDocument/2006/relationships/slide" Target="/ppt/slides/slide2.xml" Id="Rc2188ff8426146d8" /><Relationship Type="http://schemas.openxmlformats.org/officeDocument/2006/relationships/slide" Target="/ppt/slides/slide3.xml" Id="R3408b36446bc4dc8" /><Relationship Type="http://schemas.openxmlformats.org/officeDocument/2006/relationships/slide" Target="/ppt/slides/slide4.xml" Id="Rc80654a6eee44586" /><Relationship Type="http://schemas.openxmlformats.org/officeDocument/2006/relationships/slide" Target="/ppt/slides/slide5.xml" Id="Rda68909a7e1f4828" /><Relationship Type="http://schemas.openxmlformats.org/officeDocument/2006/relationships/slide" Target="/ppt/slides/slide6.xml" Id="R397b6e42a09e4e9c" /><Relationship Type="http://schemas.openxmlformats.org/officeDocument/2006/relationships/slide" Target="/ppt/slides/slide7.xml" Id="R5847a7005c174102" /><Relationship Type="http://schemas.openxmlformats.org/officeDocument/2006/relationships/slide" Target="/ppt/slides/slide8.xml" Id="R9e4bf6dd9aed462a" /><Relationship Type="http://schemas.openxmlformats.org/officeDocument/2006/relationships/slide" Target="/ppt/slides/slide9.xml" Id="R7922ffe1f09d4219" /><Relationship Type="http://schemas.openxmlformats.org/officeDocument/2006/relationships/slide" Target="/ppt/slides/slide10.xml" Id="R746adfaf0a7e4829" /><Relationship Type="http://schemas.openxmlformats.org/officeDocument/2006/relationships/slide" Target="/ppt/slides/slide11.xml" Id="Rc7a08fd07b2641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c7685851fa40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a3a71f087e4012" /><Relationship Type="http://schemas.openxmlformats.org/officeDocument/2006/relationships/notesMaster" Target="/ppt/notesMasters/notesMaster1.xml" Id="R1002352c85fd49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ec146ba8c548a5" /><Relationship Type="http://schemas.openxmlformats.org/officeDocument/2006/relationships/notesMaster" Target="/ppt/notesMasters/notesMaster1.xml" Id="Rfeb1fe2e9de040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ee5f667535418c" /><Relationship Type="http://schemas.openxmlformats.org/officeDocument/2006/relationships/notesMaster" Target="/ppt/notesMasters/notesMaster1.xml" Id="R0680fa5c83c442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b2f442160044a0" /><Relationship Type="http://schemas.openxmlformats.org/officeDocument/2006/relationships/notesMaster" Target="/ppt/notesMasters/notesMaster1.xml" Id="R17bbf24ae58e40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287e8101cb4ebf" /><Relationship Type="http://schemas.openxmlformats.org/officeDocument/2006/relationships/notesMaster" Target="/ppt/notesMasters/notesMaster1.xml" Id="Ra18aa583c52d44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920336d7264f26" /><Relationship Type="http://schemas.openxmlformats.org/officeDocument/2006/relationships/notesMaster" Target="/ppt/notesMasters/notesMaster1.xml" Id="R63008d0f773e4d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f445cc47604f51" /><Relationship Type="http://schemas.openxmlformats.org/officeDocument/2006/relationships/notesMaster" Target="/ppt/notesMasters/notesMaster1.xml" Id="R5c39ade88a7247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58836935264cef" /><Relationship Type="http://schemas.openxmlformats.org/officeDocument/2006/relationships/notesMaster" Target="/ppt/notesMasters/notesMaster1.xml" Id="R9c25e8245a254b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d048c362f44adc" /><Relationship Type="http://schemas.openxmlformats.org/officeDocument/2006/relationships/notesMaster" Target="/ppt/notesMasters/notesMaster1.xml" Id="Rb785d4fec0a047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ab056f00f54303" /><Relationship Type="http://schemas.openxmlformats.org/officeDocument/2006/relationships/notesMaster" Target="/ppt/notesMasters/notesMaster1.xml" Id="R723b7516b043428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3027b84cd8465c" /><Relationship Type="http://schemas.openxmlformats.org/officeDocument/2006/relationships/notesMaster" Target="/ppt/notesMasters/notesMaster1.xml" Id="Rf16e6acee8df4c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1ba857b6fe41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db1ab3e2d7424e" /><Relationship Type="http://schemas.openxmlformats.org/officeDocument/2006/relationships/slideLayout" Target="/ppt/slideLayouts/slideLayout1.xml" Id="R158ffa5c6f0f40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8ffa5c6f0f40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3ac5a829d9489d" /><Relationship Type="http://schemas.openxmlformats.org/officeDocument/2006/relationships/notesSlide" Target="/ppt/notesSlides/notesSlide1.xml" Id="R53ded743098446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45cd555aa4516" /><Relationship Type="http://schemas.openxmlformats.org/officeDocument/2006/relationships/notesSlide" Target="/ppt/notesSlides/notesSlide2.xml" Id="R7ca46df0feeb40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c88c838734fcf" /><Relationship Type="http://schemas.openxmlformats.org/officeDocument/2006/relationships/notesSlide" Target="/ppt/notesSlides/notesSlide3.xml" Id="R15a16d6ed96546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48c4fdb0c4e5d" /><Relationship Type="http://schemas.openxmlformats.org/officeDocument/2006/relationships/notesSlide" Target="/ppt/notesSlides/notesSlide4.xml" Id="R77ef02f9978543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118411071498e" /><Relationship Type="http://schemas.openxmlformats.org/officeDocument/2006/relationships/notesSlide" Target="/ppt/notesSlides/notesSlide5.xml" Id="R04ab47b8075348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3ab2307854abf" /><Relationship Type="http://schemas.openxmlformats.org/officeDocument/2006/relationships/notesSlide" Target="/ppt/notesSlides/notesSlide6.xml" Id="R3014d4620cb440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fc206d4f34e9e" /><Relationship Type="http://schemas.openxmlformats.org/officeDocument/2006/relationships/notesSlide" Target="/ppt/notesSlides/notesSlide7.xml" Id="R23577c7f3e804c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e4c52b0d64c19" /><Relationship Type="http://schemas.openxmlformats.org/officeDocument/2006/relationships/notesSlide" Target="/ppt/notesSlides/notesSlide8.xml" Id="Rf6bbf1e172e040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ee3252e8344f5" /><Relationship Type="http://schemas.openxmlformats.org/officeDocument/2006/relationships/notesSlide" Target="/ppt/notesSlides/notesSlide9.xml" Id="Ra082d8e6b06840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0b212298b4561" /><Relationship Type="http://schemas.openxmlformats.org/officeDocument/2006/relationships/notesSlide" Target="/ppt/notesSlides/notesSlide10.xml" Id="R03ead312a52143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c391c685d4ae6" /><Relationship Type="http://schemas.openxmlformats.org/officeDocument/2006/relationships/notesSlide" Target="/ppt/notesSlides/notesSlide11.xml" Id="R59e54b9a90204f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B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FEAA2-86F8-4DB6-8FC4-640BF249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9C9BA"/>
                </a:solidFill>
              </a:defRPr>
            </a:pPr>
            <a:r>
              <a:rPr sz="1125" b="1">
                <a:solidFill>
                  <a:srgbClr val="A9C9BA"/>
                </a:solidFill>
              </a:rPr>
              <a:t>SIH26016 · LAND ACQUISITION &amp;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93B58-BAEE-4158-9754-6EC09707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FFFFFF"/>
                </a:solidFill>
              </a:defRPr>
            </a:pPr>
            <a:r>
              <a:rPr sz="5850" b="1">
                <a:solidFill>
                  <a:srgbClr val="FFFFFF"/>
                </a:solidFill>
              </a:rPr>
              <a:t>BhoomiSetu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58638-C87D-4DC1-AB63-68F6041D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DE9E2"/>
                </a:solidFill>
              </a:defRPr>
            </a:pPr>
            <a:r>
              <a:rPr sz="2250" b="0">
                <a:solidFill>
                  <a:srgbClr val="DDE9E2"/>
                </a:solidFill>
              </a:rPr>
              <a:t>One accountable journey from land notification to family trust.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A2DD4-B062-4D4B-BF71-523C9D62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38250"/>
            <a:ext cx="2238375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1E6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903C5-DECB-4017-A385-9C42F508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90675"/>
            <a:ext cx="2238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200" b="1">
                <a:solidFill>
                  <a:srgbClr val="FFFFFF"/>
                </a:solidFill>
              </a:defRPr>
            </a:pPr>
            <a:r>
              <a:rPr sz="7200" b="1">
                <a:solidFill>
                  <a:srgbClr val="FFFFFF"/>
                </a:solidFill>
              </a:rPr>
              <a:t>भू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17CEF-DA4F-45C0-9939-35339A0B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भूमि से विश्वास तक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0FE5A-6F4C-48BE-A5C4-B87A8908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42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2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004845-6117-4682-871C-96D3C2CF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C9BA"/>
                </a:solidFill>
              </a:defRPr>
            </a:pPr>
            <a:r>
              <a:rPr sz="1275" b="0">
                <a:solidFill>
                  <a:srgbClr val="A9C9BA"/>
                </a:solidFill>
              </a:rPr>
              <a:t>Citizen clarity · Officer action · Government accountability</a:t>
            </a:r>
          </a:p>
        </p:txBody>
      </p:sp>
    </p:spTree>
    <p:extLst>
      <p:ext uri="{BB962C8B-B14F-4D97-AF65-F5344CB8AC3E}">
        <p14:creationId xmlns:p14="http://schemas.microsoft.com/office/powerpoint/2010/main" val="4832445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B1F861-1ED7-464F-8769-2A781C45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048"/>
                </a:solidFill>
              </a:defRPr>
            </a:pPr>
            <a:r>
              <a:rPr sz="1050" b="1">
                <a:solidFill>
                  <a:srgbClr val="1E6048"/>
                </a:solidFill>
              </a:rPr>
              <a:t>THE PUBLIC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2FAA07-C063-4C87-9CC5-C177106A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97871"/>
                </a:solidFill>
              </a:defRPr>
            </a:pPr>
            <a:r>
              <a:rPr sz="1050" b="1">
                <a:solidFill>
                  <a:srgbClr val="697871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6DDF66-58E4-4087-BFC3-1DF9209A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25DCD-38B0-4D1A-9063-34A09C8A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871"/>
                </a:solidFill>
              </a:defRPr>
            </a:pPr>
            <a:r>
              <a:rPr sz="825" b="1">
                <a:solidFill>
                  <a:srgbClr val="697871"/>
                </a:solidFill>
              </a:rPr>
              <a:t>BHOOMISETU · SIH26016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BA4D3-CD7F-4537-A465-21D23941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47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2B24"/>
                </a:solidFill>
              </a:defRPr>
            </a:pPr>
            <a:r>
              <a:rPr sz="3225" b="1">
                <a:solidFill>
                  <a:srgbClr val="142B24"/>
                </a:solidFill>
              </a:rPr>
              <a:t>A family sees offices. Government sees fragments.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0567EA-04DE-4801-ABC3-A84B286A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7871"/>
                </a:solidFill>
              </a:defRPr>
            </a:pPr>
            <a:r>
              <a:rPr sz="1500" b="0">
                <a:solidFill>
                  <a:srgbClr val="697871"/>
                </a:solidFill>
              </a:rPr>
              <a:t>Land acquisition crosses records, departments and jurisdictions—but responsibility is rarely visible end to end.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7DC61-65B0-46E6-B4B6-DEE514F0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58C583-D2CC-481D-85A2-F30413D7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3718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B24"/>
                </a:solidFill>
              </a:defRPr>
            </a:pPr>
            <a:r>
              <a:rPr sz="1500" b="1">
                <a:solidFill>
                  <a:srgbClr val="142B24"/>
                </a:solidFill>
              </a:rPr>
              <a:t>Land record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EB96F3-627A-401A-BFE6-8EE16E48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3337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9584D"/>
                </a:solidFill>
              </a:defRPr>
            </a:pPr>
            <a:r>
              <a:rPr sz="2250" b="1">
                <a:solidFill>
                  <a:srgbClr val="B9584D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514990-BD47-4DEA-95C6-7B064815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432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7F2BAF-7EE2-40FF-9666-12448CA3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3718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B24"/>
                </a:solidFill>
              </a:defRPr>
            </a:pPr>
            <a:r>
              <a:rPr sz="1500" b="1">
                <a:solidFill>
                  <a:srgbClr val="142B24"/>
                </a:solidFill>
              </a:rPr>
              <a:t>Acquisition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81EE5F-E5DD-4A4D-850D-22195014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3337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9584D"/>
                </a:solidFill>
              </a:defRPr>
            </a:pPr>
            <a:r>
              <a:rPr sz="2250" b="1">
                <a:solidFill>
                  <a:srgbClr val="B9584D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100D8F-F9C1-48F2-AB34-2DA94B2F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432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4434A5-702B-40ED-A12C-E0C9B7FB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3718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B24"/>
                </a:solidFill>
              </a:defRPr>
            </a:pPr>
            <a:r>
              <a:rPr sz="1500" b="1">
                <a:solidFill>
                  <a:srgbClr val="142B24"/>
                </a:solidFill>
              </a:rPr>
              <a:t>Compensation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D3C3EC-2389-42AB-B5EC-D8D3E2E3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337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9584D"/>
                </a:solidFill>
              </a:defRPr>
            </a:pPr>
            <a:r>
              <a:rPr sz="2250" b="1">
                <a:solidFill>
                  <a:srgbClr val="B9584D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CF44BD-E5E4-462A-8E3D-0B11F826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432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F0B19C-0A6E-4A53-865B-FC0FB896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3718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B24"/>
                </a:solidFill>
              </a:defRPr>
            </a:pPr>
            <a:r>
              <a:rPr sz="1500" b="1">
                <a:solidFill>
                  <a:srgbClr val="142B24"/>
                </a:solidFill>
              </a:rPr>
              <a:t>R&amp;R / possession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78F5B5-DB66-4673-89F9-2F510FAA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B24"/>
                </a:solidFill>
              </a:defRPr>
            </a:pPr>
            <a:r>
              <a:rPr sz="2400" b="1">
                <a:solidFill>
                  <a:srgbClr val="142B24"/>
                </a:solidFill>
              </a:rPr>
              <a:t>The missing layer is not another registry.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D09C2E-78D1-45B4-BF7A-2D44B768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625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6048"/>
                </a:solidFill>
              </a:defRPr>
            </a:pPr>
            <a:r>
              <a:rPr sz="1875" b="0">
                <a:solidFill>
                  <a:srgbClr val="1E6048"/>
                </a:solidFill>
              </a:rPr>
              <a:t>It is orchestration: who owns the next action, by when, with what evidence?</a:t>
            </a:r>
          </a:p>
        </p:txBody>
      </p:sp>
    </p:spTree>
    <p:extLst>
      <p:ext uri="{BB962C8B-B14F-4D97-AF65-F5344CB8AC3E}">
        <p14:creationId xmlns:p14="http://schemas.microsoft.com/office/powerpoint/2010/main" val="11172003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B7303B-B143-4088-AF89-1C468858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048"/>
                </a:solidFill>
              </a:defRPr>
            </a:pPr>
            <a:r>
              <a:rPr sz="1050" b="1">
                <a:solidFill>
                  <a:srgbClr val="1E6048"/>
                </a:solidFill>
              </a:rPr>
              <a:t>THE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B8292-B2FB-4D09-8DCA-EE207BE4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97871"/>
                </a:solidFill>
              </a:defRPr>
            </a:pPr>
            <a:r>
              <a:rPr sz="1050" b="1">
                <a:solidFill>
                  <a:srgbClr val="697871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75ABA-2EF8-4D6F-98C8-4C8D881E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9C7379-B2BC-4DA9-B1D1-7E8D0DAC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871"/>
                </a:solidFill>
              </a:defRPr>
            </a:pPr>
            <a:r>
              <a:rPr sz="825" b="1">
                <a:solidFill>
                  <a:srgbClr val="697871"/>
                </a:solidFill>
              </a:rPr>
              <a:t>BHOOMISETU · SIH26016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45171-CAD7-4207-967C-356F4476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47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2B24"/>
                </a:solidFill>
              </a:defRPr>
            </a:pPr>
            <a:r>
              <a:rPr sz="3225" b="1">
                <a:solidFill>
                  <a:srgbClr val="142B24"/>
                </a:solidFill>
              </a:rPr>
              <a:t>One case timeline becomes the shared source of truth.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C1EA74-5767-41A4-B241-6C62306B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7871"/>
                </a:solidFill>
              </a:defRPr>
            </a:pPr>
            <a:r>
              <a:rPr sz="1500" b="0">
                <a:solidFill>
                  <a:srgbClr val="697871"/>
                </a:solidFill>
              </a:rPr>
              <a:t>BhoomiSetu sits alongside existing systems and gives each stakeholder only the view and actions they need.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C99B9-1DBE-4708-BFE7-CE4074BD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971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1FA5F-FAA0-43C0-A973-5D701121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9A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766755-9B38-4209-B8E4-59BD016F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337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1197E4-8AA1-4922-A97B-374543DF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B24"/>
                </a:solidFill>
              </a:defRPr>
            </a:pPr>
            <a:r>
              <a:rPr sz="1350" b="1">
                <a:solidFill>
                  <a:srgbClr val="142B24"/>
                </a:solidFill>
              </a:rPr>
              <a:t>Citizen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1CBC18-3E02-4971-9A24-AC50492F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7871"/>
                </a:solidFill>
              </a:defRPr>
            </a:pPr>
            <a:r>
              <a:rPr sz="1200" b="0">
                <a:solidFill>
                  <a:srgbClr val="697871"/>
                </a:solidFill>
              </a:rPr>
              <a:t>clarity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87FD8-3F07-4D8F-9924-5C512BEB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ED2ED-C0AF-401E-A4E4-9772D0F5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337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2FD02F-E277-43C0-8FEB-4C30CA3E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3053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B24"/>
                </a:solidFill>
              </a:defRPr>
            </a:pPr>
            <a:r>
              <a:rPr sz="1350" b="1">
                <a:solidFill>
                  <a:srgbClr val="142B24"/>
                </a:solidFill>
              </a:rPr>
              <a:t>Officer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EB5DD8-9ABC-4ACB-84B6-E2110584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629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7871"/>
                </a:solidFill>
              </a:defRPr>
            </a:pPr>
            <a:r>
              <a:rPr sz="1200" b="0">
                <a:solidFill>
                  <a:srgbClr val="697871"/>
                </a:solidFill>
              </a:rPr>
              <a:t>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D6299F-D941-4178-BD56-2B1CC04B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E6CE26-14FC-4DF2-980C-C0D390AB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337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FD79A7-60E7-4D5A-B81B-045AD470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3053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B24"/>
                </a:solidFill>
              </a:defRPr>
            </a:pPr>
            <a:r>
              <a:rPr sz="1350" b="1">
                <a:solidFill>
                  <a:srgbClr val="142B24"/>
                </a:solidFill>
              </a:rPr>
              <a:t>Authority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2FA039-DE68-47F9-BC3C-BFF142C7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629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7871"/>
                </a:solidFill>
              </a:defRPr>
            </a:pPr>
            <a:r>
              <a:rPr sz="1200" b="0">
                <a:solidFill>
                  <a:srgbClr val="697871"/>
                </a:solidFill>
              </a:rPr>
              <a:t>delivery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E33F38-81EA-46E4-B0BC-D62C64A8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0F0172-2DE4-4C45-8209-E6E37081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5337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638CD7-0A78-4ACC-876F-9EAC4D5A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3053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B24"/>
                </a:solidFill>
              </a:defRPr>
            </a:pPr>
            <a:r>
              <a:rPr sz="1350" b="1">
                <a:solidFill>
                  <a:srgbClr val="142B24"/>
                </a:solidFill>
              </a:rPr>
              <a:t>District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51C75F-DE96-4109-985E-6ABA59C3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629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7871"/>
                </a:solidFill>
              </a:defRPr>
            </a:pPr>
            <a:r>
              <a:rPr sz="1200" b="0">
                <a:solidFill>
                  <a:srgbClr val="697871"/>
                </a:solidFill>
              </a:rPr>
              <a:t>control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5BB6A4-4AAE-432A-95AE-674FE11F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718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F87C64-399B-4390-85A2-6CDE958A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337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365B80-F9E3-4725-B1A4-6813326C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3053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B24"/>
                </a:solidFill>
              </a:defRPr>
            </a:pPr>
            <a:r>
              <a:rPr sz="1350" b="1">
                <a:solidFill>
                  <a:srgbClr val="142B24"/>
                </a:solidFill>
              </a:rPr>
              <a:t>Central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2419FF-1B6B-4524-B233-35F66866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629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97871"/>
                </a:solidFill>
              </a:defRPr>
            </a:pPr>
            <a:r>
              <a:rPr sz="1200" b="0">
                <a:solidFill>
                  <a:srgbClr val="697871"/>
                </a:solidFill>
              </a:rPr>
              <a:t>policy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A41200-EB64-42A1-8B91-E0CF441A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292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E6048"/>
                </a:solidFill>
              </a:defRPr>
            </a:pPr>
            <a:r>
              <a:rPr sz="1500" b="1">
                <a:solidFill>
                  <a:srgbClr val="1E6048"/>
                </a:solidFill>
              </a:rPr>
              <a:t>Notification  →  Verification  →  Objection  →  Award  →  Compensation  →  Possession</a:t>
            </a:r>
          </a:p>
        </p:txBody>
      </p:sp>
    </p:spTree>
    <p:extLst>
      <p:ext uri="{BB962C8B-B14F-4D97-AF65-F5344CB8AC3E}">
        <p14:creationId xmlns:p14="http://schemas.microsoft.com/office/powerpoint/2010/main" val="4105865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FFF410-518F-43EB-9849-32387530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048"/>
                </a:solidFill>
              </a:defRPr>
            </a:pPr>
            <a:r>
              <a:rPr sz="1050" b="1">
                <a:solidFill>
                  <a:srgbClr val="1E6048"/>
                </a:solidFill>
              </a:rPr>
              <a:t>CORE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F3F950-E5B6-4A05-AEC6-C8A470A3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97871"/>
                </a:solidFill>
              </a:defRPr>
            </a:pPr>
            <a:r>
              <a:rPr sz="1050" b="1">
                <a:solidFill>
                  <a:srgbClr val="697871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59187-2879-472A-AB2F-E7843F1C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101BB-2DE4-4972-8FCF-6CB704C6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871"/>
                </a:solidFill>
              </a:defRPr>
            </a:pPr>
            <a:r>
              <a:rPr sz="825" b="1">
                <a:solidFill>
                  <a:srgbClr val="697871"/>
                </a:solidFill>
              </a:rPr>
              <a:t>BHOOMISETU · SIH26016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07E5C-B674-46B6-B683-36B59FFC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47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2B24"/>
                </a:solidFill>
              </a:defRPr>
            </a:pPr>
            <a:r>
              <a:rPr sz="3225" b="1">
                <a:solidFill>
                  <a:srgbClr val="142B24"/>
                </a:solidFill>
              </a:rPr>
              <a:t>The citizen always knows what happened—and what happens next.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B0EB1F-2EAC-4EF8-85B9-28D66042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0482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444B63-8E86-4526-BBB4-C3EF70CF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050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9C9BA"/>
                </a:solidFill>
              </a:defRPr>
            </a:pPr>
            <a:r>
              <a:rPr sz="1275" b="1">
                <a:solidFill>
                  <a:srgbClr val="A9C9BA"/>
                </a:solidFill>
              </a:rPr>
              <a:t>MH-PUN-2026-0002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3E956D-ADFD-44DB-8D27-B1D681B7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98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Verification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6A22B6-F7C2-4DB7-9D7B-C37F98AB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C9BA"/>
                </a:solidFill>
              </a:defRPr>
            </a:pPr>
            <a:r>
              <a:rPr sz="1200" b="1">
                <a:solidFill>
                  <a:srgbClr val="A9C9BA"/>
                </a:solidFill>
              </a:rPr>
              <a:t>Current responsibility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6EA646-E7C5-4D2B-B0E1-292344F3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Land Acquisition Officer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Pune District · due in 4 days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6EEBDB-D2A6-4B1C-8202-6EFAF257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9E2"/>
                </a:solidFill>
              </a:defRPr>
            </a:pPr>
            <a:r>
              <a:rPr sz="1275" b="0">
                <a:solidFill>
                  <a:srgbClr val="DDE9E2"/>
                </a:solidFill>
              </a:rPr>
              <a:t>No office visit required to ask “where is my case?”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CFB296-BB42-42A0-BD98-E51E179B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860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6048"/>
                </a:solidFill>
              </a:defRPr>
            </a:pPr>
            <a:r>
              <a:rPr sz="2250" b="1">
                <a:solidFill>
                  <a:srgbClr val="1E6048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0025E-1284-49A9-9A45-ADBF0B68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28600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B24"/>
                </a:solidFill>
              </a:defRPr>
            </a:pPr>
            <a:r>
              <a:rPr sz="2100" b="1">
                <a:solidFill>
                  <a:srgbClr val="142B24"/>
                </a:solidFill>
              </a:rPr>
              <a:t>Case timeline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AFAE86-6B34-4A9A-9E75-CEE41EED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76550"/>
            <a:ext cx="438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90D0DD-FAE0-4CB5-B6D3-FF8859F0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3528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6048"/>
                </a:solidFill>
              </a:defRPr>
            </a:pPr>
            <a:r>
              <a:rPr sz="2250" b="1">
                <a:solidFill>
                  <a:srgbClr val="1E6048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A545D2-3ED4-4FBA-9F06-858315C4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35280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B24"/>
                </a:solidFill>
              </a:defRPr>
            </a:pPr>
            <a:r>
              <a:rPr sz="2100" b="1">
                <a:solidFill>
                  <a:srgbClr val="142B24"/>
                </a:solidFill>
              </a:rPr>
              <a:t>Document versioning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18C1C2-1C8A-4D1C-AA6F-CC8B73D2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43350"/>
            <a:ext cx="438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E4D56C-5E4B-49E1-B375-91329730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4196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6048"/>
                </a:solidFill>
              </a:defRPr>
            </a:pPr>
            <a:r>
              <a:rPr sz="2250" b="1">
                <a:solidFill>
                  <a:srgbClr val="1E6048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11A6BC-5FF2-42B9-B7C7-32FF750D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41960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B24"/>
                </a:solidFill>
              </a:defRPr>
            </a:pPr>
            <a:r>
              <a:rPr sz="2100" b="1">
                <a:solidFill>
                  <a:srgbClr val="142B24"/>
                </a:solidFill>
              </a:rPr>
              <a:t>Grievance status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80B517-16D8-4EDF-8D23-991C6001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38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9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27497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F9AEBF-E2F1-49FC-966C-7EE90106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048"/>
                </a:solidFill>
              </a:defRPr>
            </a:pPr>
            <a:r>
              <a:rPr sz="1050" b="1">
                <a:solidFill>
                  <a:srgbClr val="1E6048"/>
                </a:solidFill>
              </a:rPr>
              <a:t>HUMAN-CENTRED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2F92E-8E5A-4A7C-AC89-B5FDEB59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97871"/>
                </a:solidFill>
              </a:defRPr>
            </a:pPr>
            <a:r>
              <a:rPr sz="1050" b="1">
                <a:solidFill>
                  <a:srgbClr val="697871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EBF322-1754-433D-8002-B92E700C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890B3A-5F9D-4BC9-9489-78B86C9F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871"/>
                </a:solidFill>
              </a:defRPr>
            </a:pPr>
            <a:r>
              <a:rPr sz="825" b="1">
                <a:solidFill>
                  <a:srgbClr val="697871"/>
                </a:solidFill>
              </a:rPr>
              <a:t>BHOOMISETU · SIH26016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7722A-5B9A-46A9-9778-D5901720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47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2B24"/>
                </a:solidFill>
              </a:defRPr>
            </a:pPr>
            <a:r>
              <a:rPr sz="3225" b="1">
                <a:solidFill>
                  <a:srgbClr val="142B24"/>
                </a:solidFill>
              </a:rPr>
              <a:t>AI recommends. An accountable officer decides.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48FBD-E7A6-4781-992F-2192CC19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7871"/>
                </a:solidFill>
              </a:defRPr>
            </a:pPr>
            <a:r>
              <a:rPr sz="1500" b="0">
                <a:solidFill>
                  <a:srgbClr val="697871"/>
                </a:solidFill>
              </a:rPr>
              <a:t>Structured extraction and routing reduce manual work without automating legal entitlement or final decisions.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41F22-12AF-451D-895C-592935A2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6048"/>
                </a:solidFill>
              </a:defRPr>
            </a:pPr>
            <a:r>
              <a:rPr sz="2250" b="1">
                <a:solidFill>
                  <a:srgbClr val="1E6048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CE7487-7507-4726-99B2-82BAF0D1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71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B24"/>
                </a:solidFill>
              </a:defRPr>
            </a:pPr>
            <a:r>
              <a:rPr sz="2100" b="1">
                <a:solidFill>
                  <a:srgbClr val="142B24"/>
                </a:solidFill>
              </a:rPr>
              <a:t>Read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BAD1BF-9E68-4877-AFEF-A0DBAE2D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5908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7871"/>
                </a:solidFill>
              </a:defRPr>
            </a:pPr>
            <a:r>
              <a:rPr sz="1500" b="0">
                <a:solidFill>
                  <a:srgbClr val="697871"/>
                </a:solidFill>
              </a:rPr>
              <a:t>Vision model first; Marathi/Hindi/English OCR fallback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019CF7-66F4-4215-914D-8D543FA6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1682BB-AD49-4448-9A0C-1DC8FED1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6048"/>
                </a:solidFill>
              </a:defRPr>
            </a:pPr>
            <a:r>
              <a:rPr sz="2250" b="1">
                <a:solidFill>
                  <a:srgbClr val="1E6048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7715C9-2F10-4FAE-BA66-DFDFA598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385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B24"/>
                </a:solidFill>
              </a:defRPr>
            </a:pPr>
            <a:r>
              <a:rPr sz="2100" b="1">
                <a:solidFill>
                  <a:srgbClr val="142B24"/>
                </a:solidFill>
              </a:rPr>
              <a:t>Structure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E4FA8C-E5CE-4D04-A31D-D27A03BD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6576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7871"/>
                </a:solidFill>
              </a:defRPr>
            </a:pPr>
            <a:r>
              <a:rPr sz="1500" b="0">
                <a:solidFill>
                  <a:srgbClr val="697871"/>
                </a:solidFill>
              </a:rPr>
              <a:t>Strict JSON: owner, survey, area, document 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8E1CE9-3800-4FF2-8B23-280C9D71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400AB9-42F5-4468-BE0B-B7D2D274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6048"/>
                </a:solidFill>
              </a:defRPr>
            </a:pPr>
            <a:r>
              <a:rPr sz="2250" b="1">
                <a:solidFill>
                  <a:srgbClr val="1E6048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51F44D-CD0B-413F-BC58-F978B02C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053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B24"/>
                </a:solidFill>
              </a:defRPr>
            </a:pPr>
            <a:r>
              <a:rPr sz="2100" b="1">
                <a:solidFill>
                  <a:srgbClr val="142B24"/>
                </a:solidFill>
              </a:rPr>
              <a:t>Confirm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9137C0-050E-4DFE-9F7F-37B9AEE3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7244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7871"/>
                </a:solidFill>
              </a:defRPr>
            </a:pPr>
            <a:r>
              <a:rPr sz="1500" b="0">
                <a:solidFill>
                  <a:srgbClr val="697871"/>
                </a:solidFill>
              </a:rPr>
              <a:t>Officer corrects and approves before verified status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3F264F-6EB3-450D-A69C-34C54A86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5E9310-54E1-4862-A114-CE193AFF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57850"/>
            <a:ext cx="1038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C21B74-3FA7-4F35-BAF5-29D37DB2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62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E6048"/>
                </a:solidFill>
              </a:defRPr>
            </a:pPr>
            <a:r>
              <a:rPr sz="1500" b="1">
                <a:solidFill>
                  <a:srgbClr val="1E6048"/>
                </a:solidFill>
              </a:rPr>
              <a:t>Responsible boundary: predict procedural delay—not land price or statutory compensation amount.</a:t>
            </a:r>
          </a:p>
        </p:txBody>
      </p:sp>
    </p:spTree>
    <p:extLst>
      <p:ext uri="{BB962C8B-B14F-4D97-AF65-F5344CB8AC3E}">
        <p14:creationId xmlns:p14="http://schemas.microsoft.com/office/powerpoint/2010/main" val="2626866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2A5202-03A7-4AE7-9B47-7A5262F6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048"/>
                </a:solidFill>
              </a:defRPr>
            </a:pPr>
            <a:r>
              <a:rPr sz="1050" b="1">
                <a:solidFill>
                  <a:srgbClr val="1E6048"/>
                </a:solidFill>
              </a:rPr>
              <a:t>SPATIAL DELIVERY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BD12E-930C-4C9A-8923-2AD58812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97871"/>
                </a:solidFill>
              </a:defRPr>
            </a:pPr>
            <a:r>
              <a:rPr sz="1050" b="1">
                <a:solidFill>
                  <a:srgbClr val="697871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59014-A446-492F-AF56-4BBB1E05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D5922E-F9B7-4195-9112-31E1F774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871"/>
                </a:solidFill>
              </a:defRPr>
            </a:pPr>
            <a:r>
              <a:rPr sz="825" b="1">
                <a:solidFill>
                  <a:srgbClr val="697871"/>
                </a:solidFill>
              </a:rPr>
              <a:t>BHOOMISETU · SIH26016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6F323-9AE8-4314-97A8-12EBEFB8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47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2B24"/>
                </a:solidFill>
              </a:defRPr>
            </a:pPr>
            <a:r>
              <a:rPr sz="3225" b="1">
                <a:solidFill>
                  <a:srgbClr val="142B24"/>
                </a:solidFill>
              </a:rPr>
              <a:t>Twenty real-world parcel locations reveal the bottleneck.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68D386-271C-4958-8416-B99362C0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7871"/>
                </a:solidFill>
              </a:defRPr>
            </a:pPr>
            <a:r>
              <a:rPr sz="1500" b="0">
                <a:solidFill>
                  <a:srgbClr val="697871"/>
                </a:solidFill>
              </a:rPr>
              <a:t>OSM-derived placement + PostGIS geometry + case-stage colour make operational delay visible on the land itself.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6E7E3-0C63-45E2-84AB-32BB957A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6572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351CB4-0147-4B61-BC33-4CE3CFF4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81300"/>
            <a:ext cx="85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B8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82356B-C747-47C5-86F8-9AA713FF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781300"/>
            <a:ext cx="85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CA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5C1C9-65D7-4DB4-8664-A4A101A2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781300"/>
            <a:ext cx="85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3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D434CD-F6A3-4B0F-900B-86D28255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781300"/>
            <a:ext cx="85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59BB39-10F5-47F9-A948-8CEA1645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781300"/>
            <a:ext cx="85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66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9AA8EE-0FE6-422B-BC59-D0D59E05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09950"/>
            <a:ext cx="85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04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E4B5C6-25EE-4830-90C5-96E7F513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409950"/>
            <a:ext cx="85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B8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990796-F9E5-4682-9DB3-4892E1BF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409950"/>
            <a:ext cx="85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CA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9297A8-341A-4831-B05E-E8E32197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409950"/>
            <a:ext cx="85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3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555D44-37F7-4ADE-B2D3-3D60F0C4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409950"/>
            <a:ext cx="85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03C50C-AE76-44FF-834D-78DC781A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38600"/>
            <a:ext cx="85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66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356007-2A06-4C3C-88B5-6AF5A856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038600"/>
            <a:ext cx="85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04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D4F9B1-D3A9-4E80-A159-84B11FE3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038600"/>
            <a:ext cx="85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B8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BA6063-1195-46B3-AB86-4C057C11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038600"/>
            <a:ext cx="85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CA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139AE7-0AC1-4E24-AADF-5D1059A7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038600"/>
            <a:ext cx="85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3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A7F061-A838-4D06-B11A-77C71FC9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67250"/>
            <a:ext cx="85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0B0B25-870E-46F5-A054-A9E0F05D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667250"/>
            <a:ext cx="85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66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44C7CD-BA24-4165-BAEA-D7D8CCF5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667250"/>
            <a:ext cx="85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04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F011E2-F5E9-40A8-92C2-F670216E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667250"/>
            <a:ext cx="85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B8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62DFC1-5FE6-450A-B365-BF94F231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667250"/>
            <a:ext cx="85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CA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98B2B6-78F7-4A4C-88B2-41457DDB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76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E6048"/>
                </a:solidFill>
              </a:defRPr>
            </a:pPr>
            <a:r>
              <a:rPr sz="4500" b="1">
                <a:solidFill>
                  <a:srgbClr val="1E6048"/>
                </a:solidFill>
              </a:rPr>
              <a:t>20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480C8C-DABB-4E49-9586-5C9DFFCF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24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B24"/>
                </a:solidFill>
              </a:defRPr>
            </a:pPr>
            <a:r>
              <a:rPr sz="1650" b="1">
                <a:solidFill>
                  <a:srgbClr val="142B24"/>
                </a:solidFill>
              </a:rPr>
              <a:t>mapped parcels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6656B9-00A3-4A4E-A445-6FCB0599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00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B24"/>
                </a:solidFill>
              </a:defRPr>
            </a:pPr>
            <a:r>
              <a:rPr sz="2250" b="1">
                <a:solidFill>
                  <a:srgbClr val="142B24"/>
                </a:solidFill>
              </a:rPr>
              <a:t>ST_Intersects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CBD136-F890-48FF-92A1-19646AA0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577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7871"/>
                </a:solidFill>
              </a:defRPr>
            </a:pPr>
            <a:r>
              <a:rPr sz="1500" b="0">
                <a:solidFill>
                  <a:srgbClr val="697871"/>
                </a:solidFill>
              </a:rPr>
              <a:t>Spatial queries return the exact case and geometry—not a decorative map pin.</a:t>
            </a:r>
          </a:p>
        </p:txBody>
      </p:sp>
    </p:spTree>
    <p:extLst>
      <p:ext uri="{BB962C8B-B14F-4D97-AF65-F5344CB8AC3E}">
        <p14:creationId xmlns:p14="http://schemas.microsoft.com/office/powerpoint/2010/main" val="4563303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385541-4E20-48C1-B654-B5B9A6E2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048"/>
                </a:solidFill>
              </a:defRPr>
            </a:pPr>
            <a:r>
              <a:rPr sz="1050" b="1">
                <a:solidFill>
                  <a:srgbClr val="1E6048"/>
                </a:solidFill>
              </a:rPr>
              <a:t>PREDICTIVE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05912B-3765-4FC3-9CBE-D3DF5B1A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97871"/>
                </a:solidFill>
              </a:defRPr>
            </a:pPr>
            <a:r>
              <a:rPr sz="1050" b="1">
                <a:solidFill>
                  <a:srgbClr val="697871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ECEFD-38DC-4D9E-850D-2578E518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9C3FE-568C-44A7-9025-F22B9A29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871"/>
                </a:solidFill>
              </a:defRPr>
            </a:pPr>
            <a:r>
              <a:rPr sz="825" b="1">
                <a:solidFill>
                  <a:srgbClr val="697871"/>
                </a:solidFill>
              </a:rPr>
              <a:t>BHOOMISETU · SIH26016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51CE0-ADE1-4BF3-BA3A-E54F2741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47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2B24"/>
                </a:solidFill>
              </a:defRPr>
            </a:pPr>
            <a:r>
              <a:rPr sz="3225" b="1">
                <a:solidFill>
                  <a:srgbClr val="142B24"/>
                </a:solidFill>
              </a:rPr>
              <a:t>Leaders see risk early enough to act.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654E2B-4FE9-42E9-9FCB-D9E3CE1A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7871"/>
                </a:solidFill>
              </a:defRPr>
            </a:pPr>
            <a:r>
              <a:rPr sz="1500" b="0">
                <a:solidFill>
                  <a:srgbClr val="697871"/>
                </a:solidFill>
              </a:rPr>
              <a:t>Two offline-trained models estimate case delay and compensation-disbursal time, always with feature importance.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72EBC2-FF95-4165-A75C-D407F2EB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E6048"/>
                </a:solidFill>
              </a:defRPr>
            </a:pPr>
            <a:r>
              <a:rPr sz="3900" b="1">
                <a:solidFill>
                  <a:srgbClr val="1E6048"/>
                </a:solidFill>
              </a:rPr>
              <a:t>1,800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DECF0F-978D-42A6-8E0A-5404B8C5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871"/>
                </a:solidFill>
              </a:defRPr>
            </a:pPr>
            <a:r>
              <a:rPr sz="1350" b="0">
                <a:solidFill>
                  <a:srgbClr val="697871"/>
                </a:solidFill>
              </a:rPr>
              <a:t>reproducible synthetic histories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3D13A9-79F8-4C36-A85D-580DFE74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76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E6048"/>
                </a:solidFill>
              </a:defRPr>
            </a:pPr>
            <a:r>
              <a:rPr sz="3900" b="1">
                <a:solidFill>
                  <a:srgbClr val="1E6048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4AC79-FDA0-46EC-BDCE-190C1B5C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871"/>
                </a:solidFill>
              </a:defRPr>
            </a:pPr>
            <a:r>
              <a:rPr sz="1350" b="0">
                <a:solidFill>
                  <a:srgbClr val="697871"/>
                </a:solidFill>
              </a:rPr>
              <a:t>procedural timeline models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472741-2C0D-4C51-B917-9FC3FC26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E6048"/>
                </a:solidFill>
              </a:defRPr>
            </a:pPr>
            <a:r>
              <a:rPr sz="3900" b="1">
                <a:solidFill>
                  <a:srgbClr val="1E604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82D682-32DF-4698-BEA4-504BD7B8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871"/>
                </a:solidFill>
              </a:defRPr>
            </a:pPr>
            <a:r>
              <a:rPr sz="1350" b="0">
                <a:solidFill>
                  <a:srgbClr val="697871"/>
                </a:solidFill>
              </a:rPr>
              <a:t>top features returned per prediction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D50521-258C-4873-A720-A13961D7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1000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5A474D-FB1D-4C6A-B456-38FD14EA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3810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408945-96D8-4677-AA89-0496D70C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2B24"/>
                </a:solidFill>
              </a:defRPr>
            </a:pPr>
            <a:r>
              <a:rPr sz="2025" b="1">
                <a:solidFill>
                  <a:srgbClr val="142B24"/>
                </a:solidFill>
              </a:rPr>
              <a:t>38% high delay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239900-A697-4C9A-98E1-52728639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9587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7871"/>
                </a:solidFill>
              </a:defRPr>
            </a:pPr>
            <a:r>
              <a:rPr sz="1425" b="0">
                <a:solidFill>
                  <a:srgbClr val="697871"/>
                </a:solidFill>
              </a:rPr>
              <a:t>Example aggregate signal for Maharashtra highway cases in the demo dataset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93DBBC-D4C7-486B-AB36-226A1854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196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97871"/>
                </a:solidFill>
              </a:defRPr>
            </a:pPr>
            <a:r>
              <a:rPr sz="1275" b="1">
                <a:solidFill>
                  <a:srgbClr val="697871"/>
                </a:solidFill>
              </a:rPr>
              <a:t>objections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DB2A03-6323-4A4B-9918-49B81EBC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97871"/>
                </a:solidFill>
              </a:defRPr>
            </a:pPr>
            <a:r>
              <a:rPr sz="1275" b="1">
                <a:solidFill>
                  <a:srgbClr val="697871"/>
                </a:solidFill>
              </a:rPr>
              <a:t>document turnaround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CCB420-7018-4746-BF49-9E1234E2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863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97871"/>
                </a:solidFill>
              </a:defRPr>
            </a:pPr>
            <a:r>
              <a:rPr sz="1275" b="1">
                <a:solidFill>
                  <a:srgbClr val="697871"/>
                </a:solidFill>
              </a:rPr>
              <a:t>officer load</a:t>
            </a:r>
          </a:p>
        </p:txBody>
      </p:sp>
    </p:spTree>
    <p:extLst>
      <p:ext uri="{BB962C8B-B14F-4D97-AF65-F5344CB8AC3E}">
        <p14:creationId xmlns:p14="http://schemas.microsoft.com/office/powerpoint/2010/main" val="9708813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829BD6-81D2-449D-8535-18B30117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048"/>
                </a:solidFill>
              </a:defRPr>
            </a:pPr>
            <a:r>
              <a:rPr sz="1050" b="1">
                <a:solidFill>
                  <a:srgbClr val="1E6048"/>
                </a:solidFill>
              </a:rPr>
              <a:t>INTEROPERABILITY AND TRUST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B91207-B8BC-44CE-BA77-457B097C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97871"/>
                </a:solidFill>
              </a:defRPr>
            </a:pPr>
            <a:r>
              <a:rPr sz="1050" b="1">
                <a:solidFill>
                  <a:srgbClr val="697871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3CC5D-5F87-43E6-A5D0-88B669BA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60EF58-BD93-46E3-A737-45B79E1F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871"/>
                </a:solidFill>
              </a:defRPr>
            </a:pPr>
            <a:r>
              <a:rPr sz="825" b="1">
                <a:solidFill>
                  <a:srgbClr val="697871"/>
                </a:solidFill>
              </a:rPr>
              <a:t>BHOOMISETU · SIH26016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DE64B-748B-47BA-8752-3998C85B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47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2B24"/>
                </a:solidFill>
              </a:defRPr>
            </a:pPr>
            <a:r>
              <a:rPr sz="3225" b="1">
                <a:solidFill>
                  <a:srgbClr val="142B24"/>
                </a:solidFill>
              </a:rPr>
              <a:t>Designed for government reality—without pretending access we do not have.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63EEC-9C40-432A-B3FC-8E79CDD2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B24"/>
                </a:solidFill>
              </a:defRPr>
            </a:pPr>
            <a:r>
              <a:rPr sz="2250" b="1">
                <a:solidFill>
                  <a:srgbClr val="142B24"/>
                </a:solidFill>
              </a:rPr>
              <a:t>API Setu pattern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952EE-0384-4D25-ADB5-9493E878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4095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97871"/>
                </a:solidFill>
              </a:defRPr>
            </a:pPr>
            <a:r>
              <a:rPr sz="1575" b="0">
                <a:solidFill>
                  <a:srgbClr val="697871"/>
                </a:solidFill>
              </a:rPr>
              <a:t>Live prototype endpoints reproduce realistic land-record and NGDRS response shapes with deliberate latency.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601E69-F07C-4F3C-997A-B8BABA5F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4095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36816C-A651-4497-AEF9-3339FA95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6048"/>
                </a:solidFill>
              </a:defRPr>
            </a:pPr>
            <a:r>
              <a:rPr sz="1350" b="1">
                <a:solidFill>
                  <a:srgbClr val="1E6048"/>
                </a:solidFill>
              </a:rPr>
              <a:t>FIXTURE — NOT LIVE GOVERNMENT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7D0A7-2F79-440F-BD67-35D5BFC4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43125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CEBF5B-A338-4EF6-A9B5-7E9410C9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B24"/>
                </a:solidFill>
              </a:defRPr>
            </a:pPr>
            <a:r>
              <a:rPr sz="2250" b="1">
                <a:solidFill>
                  <a:srgbClr val="142B24"/>
                </a:solidFill>
              </a:rPr>
              <a:t>Tamper-evident audit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65D7B5-FB07-44E7-ADB4-EB6D6434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4095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97871"/>
                </a:solidFill>
              </a:defRPr>
            </a:pPr>
            <a:r>
              <a:rPr sz="1575" b="0">
                <a:solidFill>
                  <a:srgbClr val="697871"/>
                </a:solidFill>
              </a:rPr>
              <a:t>Every mutation links SHA-256(prev hash + user + action + timestamp). A verifier recomputes the full chain.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6C6B97-48CC-43BA-8AB1-58427920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862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584D"/>
                </a:solidFill>
              </a:defRPr>
            </a:pPr>
            <a:r>
              <a:rPr sz="2100" b="1">
                <a:solidFill>
                  <a:srgbClr val="B9584D"/>
                </a:solidFill>
              </a:rPr>
              <a:t>Not blockchain.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59C8D-02D9-4C0B-9B34-F1B177BE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6048"/>
                </a:solidFill>
              </a:defRPr>
            </a:pPr>
            <a:r>
              <a:rPr sz="1650" b="1">
                <a:solidFill>
                  <a:srgbClr val="1E6048"/>
                </a:solidFill>
              </a:rPr>
              <a:t>Honest, inspectable accountability.</a:t>
            </a:r>
          </a:p>
        </p:txBody>
      </p:sp>
    </p:spTree>
    <p:extLst>
      <p:ext uri="{BB962C8B-B14F-4D97-AF65-F5344CB8AC3E}">
        <p14:creationId xmlns:p14="http://schemas.microsoft.com/office/powerpoint/2010/main" val="16801598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464D99-4E59-45BE-BF14-BDA954BD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048"/>
                </a:solidFill>
              </a:defRPr>
            </a:pPr>
            <a:r>
              <a:rPr sz="1050" b="1">
                <a:solidFill>
                  <a:srgbClr val="1E6048"/>
                </a:solidFill>
              </a:rPr>
              <a:t>WORKING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AE0EC6-EF6A-4581-9337-CA503C75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97871"/>
                </a:solidFill>
              </a:defRPr>
            </a:pPr>
            <a:r>
              <a:rPr sz="1050" b="1">
                <a:solidFill>
                  <a:srgbClr val="697871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29ACC-FD94-46D1-9187-A27ED492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95DE7-0CCD-4D18-B93F-D9C1A448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871"/>
                </a:solidFill>
              </a:defRPr>
            </a:pPr>
            <a:r>
              <a:rPr sz="825" b="1">
                <a:solidFill>
                  <a:srgbClr val="697871"/>
                </a:solidFill>
              </a:rPr>
              <a:t>BHOOMISETU · SIH26016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ECE10-5799-45B4-B2EE-A431FF9A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47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2B24"/>
                </a:solidFill>
              </a:defRPr>
            </a:pPr>
            <a:r>
              <a:rPr sz="3225" b="1">
                <a:solidFill>
                  <a:srgbClr val="142B24"/>
                </a:solidFill>
              </a:rPr>
              <a:t>The prototype is tested as a system, not a slide claim.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1BBEBE-2385-438A-8353-721C638E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E6048"/>
                </a:solidFill>
              </a:defRPr>
            </a:pPr>
            <a:r>
              <a:rPr sz="3900" b="1">
                <a:solidFill>
                  <a:srgbClr val="1E6048"/>
                </a:solidFill>
              </a:rPr>
              <a:t>17 / 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FB2D8B-9680-40DB-B16B-BC1AB344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871"/>
                </a:solidFill>
              </a:defRPr>
            </a:pPr>
            <a:r>
              <a:rPr sz="1350" b="0">
                <a:solidFill>
                  <a:srgbClr val="697871"/>
                </a:solidFill>
              </a:rPr>
              <a:t>backend integration tests passing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697434-C046-433E-8AF8-CE80E45A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907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E6048"/>
                </a:solidFill>
              </a:defRPr>
            </a:pPr>
            <a:r>
              <a:rPr sz="3900" b="1">
                <a:solidFill>
                  <a:srgbClr val="1E6048"/>
                </a:solidFill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9B2FF0-F6AB-4408-A35B-88BE5891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871"/>
                </a:solidFill>
              </a:defRPr>
            </a:pPr>
            <a:r>
              <a:rPr sz="1350" b="0">
                <a:solidFill>
                  <a:srgbClr val="697871"/>
                </a:solidFill>
              </a:rPr>
              <a:t>Leaflet parcel polygons rendered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44A452-39F2-4B6F-ABF2-1418C5DF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907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E6048"/>
                </a:solidFill>
              </a:defRPr>
            </a:pPr>
            <a:r>
              <a:rPr sz="3900" b="1">
                <a:solidFill>
                  <a:srgbClr val="1E6048"/>
                </a:solidFill>
              </a:rPr>
              <a:t>390×844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E114DF-ADC0-4D8C-A604-FB9FD7F2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575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871"/>
                </a:solidFill>
              </a:defRPr>
            </a:pPr>
            <a:r>
              <a:rPr sz="1350" b="0">
                <a:solidFill>
                  <a:srgbClr val="697871"/>
                </a:solidFill>
              </a:rPr>
              <a:t>officer mobile viewport verified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25C2BB-F657-4D9B-83F8-BE5C51CE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243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7CDA67-F28B-4EA1-AACB-1E30DD12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6AC24A-8B24-43BC-BDD3-A945BC8D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B24"/>
                </a:solidFill>
              </a:defRPr>
            </a:pPr>
            <a:r>
              <a:rPr sz="1500" b="1">
                <a:solidFill>
                  <a:srgbClr val="142B24"/>
                </a:solidFill>
              </a:rPr>
              <a:t>JWT + refresh + five-role RBAC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DC1A15-E79D-4973-984C-4D186799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148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EE4AF6-A9A6-4D44-A217-F08930F5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1F9EFD-610A-464D-8158-F09F69F2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863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B24"/>
                </a:solidFill>
              </a:defRPr>
            </a:pPr>
            <a:r>
              <a:rPr sz="1500" b="1">
                <a:solidFill>
                  <a:srgbClr val="142B24"/>
                </a:solidFill>
              </a:rPr>
              <a:t>Real PostgreSQL 17 + PostGIS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B6B983-270E-4802-82E8-AE554FA5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029F1D-D2C0-4C20-926A-6BFCA49A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959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9E0921-13C9-45CF-B181-6E7721F0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768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B24"/>
                </a:solidFill>
              </a:defRPr>
            </a:pPr>
            <a:r>
              <a:rPr sz="1500" b="1">
                <a:solidFill>
                  <a:srgbClr val="142B24"/>
                </a:solidFill>
              </a:rPr>
              <a:t>OCR scan → extraction → confirmation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DF8ECC-7ACB-4F94-83AD-18855684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243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B8C234-A83B-4496-8247-E1BA6A4C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14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25886B-B499-4EEE-978F-E33FA26E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B24"/>
                </a:solidFill>
              </a:defRPr>
            </a:pPr>
            <a:r>
              <a:rPr sz="1500" b="1">
                <a:solidFill>
                  <a:srgbClr val="142B24"/>
                </a:solidFill>
              </a:rPr>
              <a:t>Two model endpoints + aggregate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27ADEA-109B-48E5-BADE-27305FD7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148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160327-7C5A-4C9F-8709-36277BAD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053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0FFD42-58F6-4689-85FA-A445F28A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863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B24"/>
                </a:solidFill>
              </a:defRPr>
            </a:pPr>
            <a:r>
              <a:rPr sz="1500" b="1">
                <a:solidFill>
                  <a:srgbClr val="142B24"/>
                </a:solidFill>
              </a:rPr>
              <a:t>API fixture latency + disclosure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1DACED-72A9-43AD-AAA7-9EAA56F9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054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C24416-87AF-45CE-83AB-A7989334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959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A64F57-55E2-4C01-BE5D-46BB2F93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768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B24"/>
                </a:solidFill>
              </a:defRPr>
            </a:pPr>
            <a:r>
              <a:rPr sz="1500" b="1">
                <a:solidFill>
                  <a:srgbClr val="142B24"/>
                </a:solidFill>
              </a:rPr>
              <a:t>Full audit chain verified</a:t>
            </a:r>
          </a:p>
        </p:txBody>
      </p:sp>
    </p:spTree>
    <p:extLst>
      <p:ext uri="{BB962C8B-B14F-4D97-AF65-F5344CB8AC3E}">
        <p14:creationId xmlns:p14="http://schemas.microsoft.com/office/powerpoint/2010/main" val="16321007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DC8341-4ABC-43E9-8573-5A3660E2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048"/>
                </a:solidFill>
              </a:defRPr>
            </a:pPr>
            <a:r>
              <a:rPr sz="1050" b="1">
                <a:solidFill>
                  <a:srgbClr val="1E6048"/>
                </a:solidFill>
              </a:rPr>
              <a:t>PATH TO 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249EA0-A1A8-482D-9EEA-7372C48F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97871"/>
                </a:solidFill>
              </a:defRPr>
            </a:pPr>
            <a:r>
              <a:rPr sz="1050" b="1">
                <a:solidFill>
                  <a:srgbClr val="697871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8C224-B6B2-4CCC-AD36-787171C3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CC5E9E-61F5-4C17-94EB-B6B2D2EC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871"/>
                </a:solidFill>
              </a:defRPr>
            </a:pPr>
            <a:r>
              <a:rPr sz="825" b="1">
                <a:solidFill>
                  <a:srgbClr val="697871"/>
                </a:solidFill>
              </a:rPr>
              <a:t>BHOOMISETU · SIH26016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A5046-25B2-4E5F-9E23-5CA95BE5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47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2B24"/>
                </a:solidFill>
              </a:defRPr>
            </a:pPr>
            <a:r>
              <a:rPr sz="3225" b="1">
                <a:solidFill>
                  <a:srgbClr val="142B24"/>
                </a:solidFill>
              </a:rPr>
              <a:t>Prototype today. Authority-grade deployment next.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829E60-C1B6-497D-B6F5-8193BCFF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62350"/>
            <a:ext cx="885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CE9B7-E1F1-47BE-BAF2-A875555C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9A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90654-AEBF-4654-A5EA-0ADD17FE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0425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EAFE1F-B0C0-42BC-8B06-744234B8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048"/>
                </a:solidFill>
              </a:defRPr>
            </a:pPr>
            <a:r>
              <a:rPr sz="1050" b="1">
                <a:solidFill>
                  <a:srgbClr val="1E6048"/>
                </a:solidFill>
              </a:rPr>
              <a:t>NOW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2FFC01-3DC8-451C-BC9B-918DADA1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2B24"/>
                </a:solidFill>
              </a:defRPr>
            </a:pPr>
            <a:r>
              <a:rPr sz="2025" b="1">
                <a:solidFill>
                  <a:srgbClr val="142B24"/>
                </a:solidFill>
              </a:rPr>
              <a:t>Validated prototype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287670-B329-44C8-8DF7-93DAE864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95825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7871"/>
                </a:solidFill>
              </a:defRPr>
            </a:pPr>
            <a:r>
              <a:rPr sz="1425" b="0">
                <a:solidFill>
                  <a:srgbClr val="697871"/>
                </a:solidFill>
              </a:rPr>
              <a:t>Synthetic data · labelled fixtures · offline-ready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77583C-23BC-4962-B795-2E0CB51A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38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6D8D48-C8B5-44FE-8377-36294F78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00425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DE9D70-84D5-419C-B2B9-E908AFE5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43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048"/>
                </a:solidFill>
              </a:defRPr>
            </a:pPr>
            <a:r>
              <a:rPr sz="1050" b="1">
                <a:solidFill>
                  <a:srgbClr val="1E6048"/>
                </a:solidFill>
              </a:rPr>
              <a:t>PILOT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04CCD4-2B9C-40D5-81FA-B42B3446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386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2B24"/>
                </a:solidFill>
              </a:defRPr>
            </a:pPr>
            <a:r>
              <a:rPr sz="2025" b="1">
                <a:solidFill>
                  <a:srgbClr val="142B24"/>
                </a:solidFill>
              </a:rPr>
              <a:t>One district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B92489-C4BB-496C-BA2C-B88FA64F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95825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7871"/>
                </a:solidFill>
              </a:defRPr>
            </a:pPr>
            <a:r>
              <a:rPr sz="1425" b="0">
                <a:solidFill>
                  <a:srgbClr val="697871"/>
                </a:solidFill>
              </a:rPr>
              <a:t>Official API onboarding · DPIA · historical model 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1973EF-EFA3-4228-8E47-F9144319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38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E17B1E-A2CC-413E-B908-ACB47F55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BB251C-7973-4B64-B2AB-1D40DCA8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048"/>
                </a:solidFill>
              </a:defRPr>
            </a:pPr>
            <a:r>
              <a:rPr sz="1050" b="1">
                <a:solidFill>
                  <a:srgbClr val="1E6048"/>
                </a:solidFill>
              </a:rPr>
              <a:t>SCALE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7C2A1A-F31B-488D-BB38-53A2F485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386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2B24"/>
                </a:solidFill>
              </a:defRPr>
            </a:pPr>
            <a:r>
              <a:rPr sz="2025" b="1">
                <a:solidFill>
                  <a:srgbClr val="142B24"/>
                </a:solidFill>
              </a:rPr>
              <a:t>State deployment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9DBB11-BC8E-409D-B526-6D829A7C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95825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7871"/>
                </a:solidFill>
              </a:defRPr>
            </a:pPr>
            <a:r>
              <a:rPr sz="1425" b="0">
                <a:solidFill>
                  <a:srgbClr val="697871"/>
                </a:solidFill>
              </a:rPr>
              <a:t>Government-hosted infrastructure · integrations · support SLA</a:t>
            </a:r>
          </a:p>
        </p:txBody>
      </p:sp>
    </p:spTree>
    <p:extLst>
      <p:ext uri="{BB962C8B-B14F-4D97-AF65-F5344CB8AC3E}">
        <p14:creationId xmlns:p14="http://schemas.microsoft.com/office/powerpoint/2010/main" val="8264372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E60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869A0-31AE-47AD-A468-D218530F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2DBCF"/>
                </a:solidFill>
              </a:defRPr>
            </a:pPr>
            <a:r>
              <a:rPr sz="1125" b="1">
                <a:solidFill>
                  <a:srgbClr val="C2DBCF"/>
                </a:solidFill>
              </a:rPr>
              <a:t>BHOOMISETU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6AB27-75AA-4648-A25A-E6DF9296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00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Make the next action visible.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39136-F552-4539-A516-39BA58F9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9429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E1EEE7"/>
                </a:solidFill>
              </a:defRPr>
            </a:pPr>
            <a:r>
              <a:rPr sz="2175" b="0">
                <a:solidFill>
                  <a:srgbClr val="E1EEE7"/>
                </a:solidFill>
              </a:rPr>
              <a:t>Give families clarity. Give officers a workable queue. Give leaders evidence to remove delay.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771EB-786C-4D08-8B40-E61BA2F9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0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B29C99-3CD7-4113-B906-5092368E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One responsibility trail—from land to trust.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3E0B4-514A-4854-9398-3E0916EB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3407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C2DBCF"/>
                </a:solidFill>
              </a:defRPr>
            </a:pPr>
            <a:r>
              <a:rPr sz="1125" b="1">
                <a:solidFill>
                  <a:srgbClr val="C2DBCF"/>
                </a:solidFill>
              </a:rPr>
              <a:t>SIH26016</a:t>
            </a:r>
          </a:p>
        </p:txBody>
      </p:sp>
    </p:spTree>
    <p:extLst>
      <p:ext uri="{BB962C8B-B14F-4D97-AF65-F5344CB8AC3E}">
        <p14:creationId xmlns:p14="http://schemas.microsoft.com/office/powerpoint/2010/main" val="19055632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2026-08-31T05:47:48.7540000Z</dcterms:created>
  <dcterms:modified xsi:type="dcterms:W3CDTF">2026-08-31T05:47:48.7540000Z</dcterms:modified>
</coreProperties>
</file>